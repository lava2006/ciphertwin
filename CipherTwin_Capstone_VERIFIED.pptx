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8" r:id="rId5"/>
    <p:sldId id="260" r:id="rId6"/>
    <p:sldId id="259" r:id="rId7"/>
    <p:sldId id="268" r:id="rId8"/>
    <p:sldId id="261" r:id="rId9"/>
    <p:sldId id="262" r:id="rId10"/>
    <p:sldId id="264" r:id="rId11"/>
    <p:sldId id="267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0D26F2-748A-44D1-ABEC-AC5BAFD6BA5A}" v="28" dt="2026-07-22T08:52:20.995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R" userId="0ce5141c488deb3d" providerId="LiveId" clId="{0A68C8E8-75F6-47E5-9727-2E2829B7A54D}"/>
    <pc:docChg chg="undo custSel modSld">
      <pc:chgData name="YOGESH R" userId="0ce5141c488deb3d" providerId="LiveId" clId="{0A68C8E8-75F6-47E5-9727-2E2829B7A54D}" dt="2026-07-22T08:54:17.989" v="552" actId="1076"/>
      <pc:docMkLst>
        <pc:docMk/>
      </pc:docMkLst>
      <pc:sldChg chg="modSp mod">
        <pc:chgData name="YOGESH R" userId="0ce5141c488deb3d" providerId="LiveId" clId="{0A68C8E8-75F6-47E5-9727-2E2829B7A54D}" dt="2026-07-22T08:15:35.361" v="305" actId="14100"/>
        <pc:sldMkLst>
          <pc:docMk/>
          <pc:sldMk cId="0" sldId="256"/>
        </pc:sldMkLst>
        <pc:spChg chg="mod">
          <ac:chgData name="YOGESH R" userId="0ce5141c488deb3d" providerId="LiveId" clId="{0A68C8E8-75F6-47E5-9727-2E2829B7A54D}" dt="2026-07-22T08:14:25.937" v="29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YOGESH R" userId="0ce5141c488deb3d" providerId="LiveId" clId="{0A68C8E8-75F6-47E5-9727-2E2829B7A54D}" dt="2026-07-22T08:14:30.961" v="298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YOGESH R" userId="0ce5141c488deb3d" providerId="LiveId" clId="{0A68C8E8-75F6-47E5-9727-2E2829B7A54D}" dt="2026-07-22T08:14:38.126" v="299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YOGESH R" userId="0ce5141c488deb3d" providerId="LiveId" clId="{0A68C8E8-75F6-47E5-9727-2E2829B7A54D}" dt="2026-07-22T08:15:35.361" v="305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YOGESH R" userId="0ce5141c488deb3d" providerId="LiveId" clId="{0A68C8E8-75F6-47E5-9727-2E2829B7A54D}" dt="2026-07-22T08:14:13.251" v="296" actId="255"/>
          <ac:spMkLst>
            <pc:docMk/>
            <pc:sldMk cId="0" sldId="256"/>
            <ac:spMk id="9" creationId="{F4A942E3-C6F4-9182-D107-04AF90A40E64}"/>
          </ac:spMkLst>
        </pc:spChg>
      </pc:sldChg>
      <pc:sldChg chg="modSp mod">
        <pc:chgData name="YOGESH R" userId="0ce5141c488deb3d" providerId="LiveId" clId="{0A68C8E8-75F6-47E5-9727-2E2829B7A54D}" dt="2026-07-22T08:28:58.768" v="354" actId="1076"/>
        <pc:sldMkLst>
          <pc:docMk/>
          <pc:sldMk cId="0" sldId="257"/>
        </pc:sldMkLst>
        <pc:spChg chg="mod">
          <ac:chgData name="YOGESH R" userId="0ce5141c488deb3d" providerId="LiveId" clId="{0A68C8E8-75F6-47E5-9727-2E2829B7A54D}" dt="2026-07-22T08:28:58.768" v="354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YOGESH R" userId="0ce5141c488deb3d" providerId="LiveId" clId="{0A68C8E8-75F6-47E5-9727-2E2829B7A54D}" dt="2026-07-22T08:54:17.989" v="552" actId="1076"/>
        <pc:sldMkLst>
          <pc:docMk/>
          <pc:sldMk cId="0" sldId="258"/>
        </pc:sldMkLst>
        <pc:spChg chg="mod">
          <ac:chgData name="YOGESH R" userId="0ce5141c488deb3d" providerId="LiveId" clId="{0A68C8E8-75F6-47E5-9727-2E2829B7A54D}" dt="2026-07-22T08:53:55.847" v="550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YOGESH R" userId="0ce5141c488deb3d" providerId="LiveId" clId="{0A68C8E8-75F6-47E5-9727-2E2829B7A54D}" dt="2026-07-22T08:54:17.989" v="552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YOGESH R" userId="0ce5141c488deb3d" providerId="LiveId" clId="{0A68C8E8-75F6-47E5-9727-2E2829B7A54D}" dt="2026-07-22T08:50:31.698" v="498" actId="14100"/>
        <pc:sldMkLst>
          <pc:docMk/>
          <pc:sldMk cId="0" sldId="259"/>
        </pc:sldMkLst>
        <pc:spChg chg="mod">
          <ac:chgData name="YOGESH R" userId="0ce5141c488deb3d" providerId="LiveId" clId="{0A68C8E8-75F6-47E5-9727-2E2829B7A54D}" dt="2026-07-22T08:50:31.698" v="498" actId="14100"/>
          <ac:spMkLst>
            <pc:docMk/>
            <pc:sldMk cId="0" sldId="259"/>
            <ac:spMk id="3" creationId="{00000000-0000-0000-0000-000000000000}"/>
          </ac:spMkLst>
        </pc:spChg>
      </pc:sldChg>
      <pc:sldChg chg="addSp modSp mod">
        <pc:chgData name="YOGESH R" userId="0ce5141c488deb3d" providerId="LiveId" clId="{0A68C8E8-75F6-47E5-9727-2E2829B7A54D}" dt="2026-07-22T08:49:29.053" v="467" actId="1035"/>
        <pc:sldMkLst>
          <pc:docMk/>
          <pc:sldMk cId="0" sldId="260"/>
        </pc:sldMkLst>
        <pc:spChg chg="mod">
          <ac:chgData name="YOGESH R" userId="0ce5141c488deb3d" providerId="LiveId" clId="{0A68C8E8-75F6-47E5-9727-2E2829B7A54D}" dt="2026-07-22T08:39:08.688" v="367" actId="20577"/>
          <ac:spMkLst>
            <pc:docMk/>
            <pc:sldMk cId="0" sldId="260"/>
            <ac:spMk id="3" creationId="{00000000-0000-0000-0000-000000000000}"/>
          </ac:spMkLst>
        </pc:spChg>
        <pc:graphicFrameChg chg="add mod">
          <ac:chgData name="YOGESH R" userId="0ce5141c488deb3d" providerId="LiveId" clId="{0A68C8E8-75F6-47E5-9727-2E2829B7A54D}" dt="2026-07-22T08:38:52.144" v="364"/>
          <ac:graphicFrameMkLst>
            <pc:docMk/>
            <pc:sldMk cId="0" sldId="260"/>
            <ac:graphicFrameMk id="4" creationId="{129E0176-19C3-EFB5-ED08-88A1796EAD84}"/>
          </ac:graphicFrameMkLst>
        </pc:graphicFrameChg>
        <pc:graphicFrameChg chg="add mod modGraphic">
          <ac:chgData name="YOGESH R" userId="0ce5141c488deb3d" providerId="LiveId" clId="{0A68C8E8-75F6-47E5-9727-2E2829B7A54D}" dt="2026-07-22T08:49:29.053" v="467" actId="1035"/>
          <ac:graphicFrameMkLst>
            <pc:docMk/>
            <pc:sldMk cId="0" sldId="260"/>
            <ac:graphicFrameMk id="5" creationId="{FEF8B6DA-F266-662C-621F-FCE810665CB5}"/>
          </ac:graphicFrameMkLst>
        </pc:graphicFrameChg>
      </pc:sldChg>
      <pc:sldChg chg="modSp mod">
        <pc:chgData name="YOGESH R" userId="0ce5141c488deb3d" providerId="LiveId" clId="{0A68C8E8-75F6-47E5-9727-2E2829B7A54D}" dt="2026-07-22T08:04:29.481" v="195" actId="1076"/>
        <pc:sldMkLst>
          <pc:docMk/>
          <pc:sldMk cId="0" sldId="261"/>
        </pc:sldMkLst>
        <pc:spChg chg="mod">
          <ac:chgData name="YOGESH R" userId="0ce5141c488deb3d" providerId="LiveId" clId="{0A68C8E8-75F6-47E5-9727-2E2829B7A54D}" dt="2026-07-22T08:04:29.481" v="195" actId="1076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YOGESH R" userId="0ce5141c488deb3d" providerId="LiveId" clId="{0A68C8E8-75F6-47E5-9727-2E2829B7A54D}" dt="2026-07-22T07:57:10.241" v="188" actId="1037"/>
        <pc:sldMkLst>
          <pc:docMk/>
          <pc:sldMk cId="0" sldId="262"/>
        </pc:sldMkLst>
        <pc:spChg chg="del">
          <ac:chgData name="YOGESH R" userId="0ce5141c488deb3d" providerId="LiveId" clId="{0A68C8E8-75F6-47E5-9727-2E2829B7A54D}" dt="2026-07-22T07:53:32.433" v="20" actId="478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YOGESH R" userId="0ce5141c488deb3d" providerId="LiveId" clId="{0A68C8E8-75F6-47E5-9727-2E2829B7A54D}" dt="2026-07-22T07:53:32.433" v="20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19.423" v="17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32.433" v="20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54.243" v="105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YOGESH R" userId="0ce5141c488deb3d" providerId="LiveId" clId="{0A68C8E8-75F6-47E5-9727-2E2829B7A54D}" dt="2026-07-22T07:53:52.786" v="104" actId="14100"/>
          <ac:spMkLst>
            <pc:docMk/>
            <pc:sldMk cId="0" sldId="262"/>
            <ac:spMk id="8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32.433" v="20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32.433" v="20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9" creationId="{00000000-0000-0000-0000-000000000000}"/>
          </ac:spMkLst>
        </pc:spChg>
        <pc:spChg chg="mod">
          <ac:chgData name="YOGESH R" userId="0ce5141c488deb3d" providerId="LiveId" clId="{0A68C8E8-75F6-47E5-9727-2E2829B7A54D}" dt="2026-07-22T07:56:55.213" v="161" actId="1036"/>
          <ac:spMkLst>
            <pc:docMk/>
            <pc:sldMk cId="0" sldId="262"/>
            <ac:spMk id="21" creationId="{00000000-0000-0000-0000-000000000000}"/>
          </ac:spMkLst>
        </pc:spChg>
        <pc:spChg chg="add del">
          <ac:chgData name="YOGESH R" userId="0ce5141c488deb3d" providerId="LiveId" clId="{0A68C8E8-75F6-47E5-9727-2E2829B7A54D}" dt="2026-07-22T07:55:33.627" v="111" actId="22"/>
          <ac:spMkLst>
            <pc:docMk/>
            <pc:sldMk cId="0" sldId="262"/>
            <ac:spMk id="22" creationId="{5759A263-A122-61EE-BC83-BB61D0390E4B}"/>
          </ac:spMkLst>
        </pc:spChg>
        <pc:picChg chg="add mod">
          <ac:chgData name="YOGESH R" userId="0ce5141c488deb3d" providerId="LiveId" clId="{0A68C8E8-75F6-47E5-9727-2E2829B7A54D}" dt="2026-07-22T07:57:10.241" v="188" actId="1037"/>
          <ac:picMkLst>
            <pc:docMk/>
            <pc:sldMk cId="0" sldId="262"/>
            <ac:picMk id="25" creationId="{3A31C37B-D76A-4163-4D65-02EEC4EDCF41}"/>
          </ac:picMkLst>
        </pc:picChg>
        <pc:cxnChg chg="del mod">
          <ac:chgData name="YOGESH R" userId="0ce5141c488deb3d" providerId="LiveId" clId="{0A68C8E8-75F6-47E5-9727-2E2829B7A54D}" dt="2026-07-22T07:53:26.554" v="19" actId="478"/>
          <ac:cxnSpMkLst>
            <pc:docMk/>
            <pc:sldMk cId="0" sldId="262"/>
            <ac:cxnSpMk id="23" creationId="{CCC4E387-7986-6D73-13F9-4D0BB7AC7F58}"/>
          </ac:cxnSpMkLst>
        </pc:cxnChg>
      </pc:sldChg>
      <pc:sldChg chg="modSp mod">
        <pc:chgData name="YOGESH R" userId="0ce5141c488deb3d" providerId="LiveId" clId="{0A68C8E8-75F6-47E5-9727-2E2829B7A54D}" dt="2026-07-22T08:12:08.526" v="294" actId="255"/>
        <pc:sldMkLst>
          <pc:docMk/>
          <pc:sldMk cId="0" sldId="264"/>
        </pc:sldMkLst>
        <pc:spChg chg="mod">
          <ac:chgData name="YOGESH R" userId="0ce5141c488deb3d" providerId="LiveId" clId="{0A68C8E8-75F6-47E5-9727-2E2829B7A54D}" dt="2026-07-22T08:12:02.362" v="293" actId="255"/>
          <ac:spMkLst>
            <pc:docMk/>
            <pc:sldMk cId="0" sldId="264"/>
            <ac:spMk id="3" creationId="{00000000-0000-0000-0000-000000000000}"/>
          </ac:spMkLst>
        </pc:spChg>
        <pc:spChg chg="mod">
          <ac:chgData name="YOGESH R" userId="0ce5141c488deb3d" providerId="LiveId" clId="{0A68C8E8-75F6-47E5-9727-2E2829B7A54D}" dt="2026-07-22T08:12:08.526" v="294" actId="255"/>
          <ac:spMkLst>
            <pc:docMk/>
            <pc:sldMk cId="0" sldId="264"/>
            <ac:spMk id="4" creationId="{5E8E846C-542E-D124-5AA6-F66994C4FE72}"/>
          </ac:spMkLst>
        </pc:spChg>
      </pc:sldChg>
      <pc:sldChg chg="addSp delSp modSp mod">
        <pc:chgData name="YOGESH R" userId="0ce5141c488deb3d" providerId="LiveId" clId="{0A68C8E8-75F6-47E5-9727-2E2829B7A54D}" dt="2026-07-22T08:11:41.993" v="291" actId="2710"/>
        <pc:sldMkLst>
          <pc:docMk/>
          <pc:sldMk cId="0" sldId="265"/>
        </pc:sldMkLst>
        <pc:spChg chg="add del mod">
          <ac:chgData name="YOGESH R" userId="0ce5141c488deb3d" providerId="LiveId" clId="{0A68C8E8-75F6-47E5-9727-2E2829B7A54D}" dt="2026-07-22T08:11:41.993" v="291" actId="2710"/>
          <ac:spMkLst>
            <pc:docMk/>
            <pc:sldMk cId="0" sldId="265"/>
            <ac:spMk id="4" creationId="{5BE5B0FA-89E6-158E-740B-3B1D53DAD964}"/>
          </ac:spMkLst>
        </pc:spChg>
      </pc:sldChg>
      <pc:sldChg chg="addSp modSp mod">
        <pc:chgData name="YOGESH R" userId="0ce5141c488deb3d" providerId="LiveId" clId="{0A68C8E8-75F6-47E5-9727-2E2829B7A54D}" dt="2026-07-22T08:53:32.901" v="548" actId="1076"/>
        <pc:sldMkLst>
          <pc:docMk/>
          <pc:sldMk cId="0" sldId="266"/>
        </pc:sldMkLst>
        <pc:spChg chg="add mod">
          <ac:chgData name="YOGESH R" userId="0ce5141c488deb3d" providerId="LiveId" clId="{0A68C8E8-75F6-47E5-9727-2E2829B7A54D}" dt="2026-07-22T08:53:32.901" v="548" actId="1076"/>
          <ac:spMkLst>
            <pc:docMk/>
            <pc:sldMk cId="0" sldId="266"/>
            <ac:spMk id="4" creationId="{002D09D9-87C7-DB60-025A-4FE8E464CA7E}"/>
          </ac:spMkLst>
        </pc:spChg>
      </pc:sldChg>
      <pc:sldChg chg="modSp mod">
        <pc:chgData name="YOGESH R" userId="0ce5141c488deb3d" providerId="LiveId" clId="{0A68C8E8-75F6-47E5-9727-2E2829B7A54D}" dt="2026-07-22T08:11:29.291" v="290" actId="2710"/>
        <pc:sldMkLst>
          <pc:docMk/>
          <pc:sldMk cId="0" sldId="267"/>
        </pc:sldMkLst>
        <pc:spChg chg="mod">
          <ac:chgData name="YOGESH R" userId="0ce5141c488deb3d" providerId="LiveId" clId="{0A68C8E8-75F6-47E5-9727-2E2829B7A54D}" dt="2026-07-22T08:11:29.291" v="290" actId="2710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YOGESH R" userId="0ce5141c488deb3d" providerId="LiveId" clId="{0A68C8E8-75F6-47E5-9727-2E2829B7A54D}" dt="2026-07-22T08:51:56.773" v="528" actId="20577"/>
        <pc:sldMkLst>
          <pc:docMk/>
          <pc:sldMk cId="2526812212" sldId="268"/>
        </pc:sldMkLst>
        <pc:spChg chg="mod">
          <ac:chgData name="YOGESH R" userId="0ce5141c488deb3d" providerId="LiveId" clId="{0A68C8E8-75F6-47E5-9727-2E2829B7A54D}" dt="2026-07-22T08:51:42.977" v="522" actId="20577"/>
          <ac:spMkLst>
            <pc:docMk/>
            <pc:sldMk cId="2526812212" sldId="268"/>
            <ac:spMk id="7" creationId="{5F584C73-99D8-5ED3-E2BD-A1D03B4EDEE1}"/>
          </ac:spMkLst>
        </pc:spChg>
        <pc:spChg chg="mod">
          <ac:chgData name="YOGESH R" userId="0ce5141c488deb3d" providerId="LiveId" clId="{0A68C8E8-75F6-47E5-9727-2E2829B7A54D}" dt="2026-07-22T08:51:56.773" v="528" actId="20577"/>
          <ac:spMkLst>
            <pc:docMk/>
            <pc:sldMk cId="2526812212" sldId="268"/>
            <ac:spMk id="11" creationId="{78538EF8-20A7-95B6-DC51-507748D27078}"/>
          </ac:spMkLst>
        </pc:spChg>
      </pc:sldChg>
      <pc:sldChg chg="addSp delSp modSp mod">
        <pc:chgData name="YOGESH R" userId="0ce5141c488deb3d" providerId="LiveId" clId="{0A68C8E8-75F6-47E5-9727-2E2829B7A54D}" dt="2026-07-22T08:48:48.222" v="457" actId="1076"/>
        <pc:sldMkLst>
          <pc:docMk/>
          <pc:sldMk cId="2792677539" sldId="269"/>
        </pc:sldMkLst>
        <pc:spChg chg="add mod">
          <ac:chgData name="YOGESH R" userId="0ce5141c488deb3d" providerId="LiveId" clId="{0A68C8E8-75F6-47E5-9727-2E2829B7A54D}" dt="2026-07-22T08:48:24.568" v="454" actId="1076"/>
          <ac:spMkLst>
            <pc:docMk/>
            <pc:sldMk cId="2792677539" sldId="269"/>
            <ac:spMk id="2" creationId="{9943E49F-6ED7-93FD-8747-EA751253FEB5}"/>
          </ac:spMkLst>
        </pc:spChg>
        <pc:spChg chg="add del mod">
          <ac:chgData name="YOGESH R" userId="0ce5141c488deb3d" providerId="LiveId" clId="{0A68C8E8-75F6-47E5-9727-2E2829B7A54D}" dt="2026-07-22T08:48:11.753" v="452"/>
          <ac:spMkLst>
            <pc:docMk/>
            <pc:sldMk cId="2792677539" sldId="269"/>
            <ac:spMk id="4" creationId="{77B24268-EA80-BC3F-9D40-18E4C177C797}"/>
          </ac:spMkLst>
        </pc:spChg>
        <pc:spChg chg="mod">
          <ac:chgData name="YOGESH R" userId="0ce5141c488deb3d" providerId="LiveId" clId="{0A68C8E8-75F6-47E5-9727-2E2829B7A54D}" dt="2026-07-22T08:48:48.222" v="457" actId="1076"/>
          <ac:spMkLst>
            <pc:docMk/>
            <pc:sldMk cId="2792677539" sldId="269"/>
            <ac:spMk id="5" creationId="{4F577F1A-6B29-6176-39F5-DAB96372129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130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23" y="223500"/>
            <a:ext cx="8324557" cy="9879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71696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CAPSTONE PROJECT - 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02920" y="2077974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CIPHERTWIN: AN AUTONOMOUS CYBER DEFENSE FRAMEWORK FOR EXPLAINABLE ZERO-TRUST SECURITY USING DIGITAL TWIN, ADAPTIVE CYBER DECEPTION, AND QUANTUM-ASSISTED POLICY REOPTIMIZATION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65760" y="275691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3399106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RAJESWARI B  (23TD0384)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DEEPIKA S  (23TD0322)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THAARANI C  (23TD0413)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LAVANYA P  (23TD0376)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79102" y="3399106"/>
            <a:ext cx="3867289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S. Pariselvam, M.E., PhD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HOD,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942E3-C6F4-9182-D107-04AF90A40E64}"/>
              </a:ext>
            </a:extLst>
          </p:cNvPr>
          <p:cNvSpPr txBox="1"/>
          <p:nvPr/>
        </p:nvSpPr>
        <p:spPr>
          <a:xfrm>
            <a:off x="2192801" y="1341901"/>
            <a:ext cx="4572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468724" y="1064305"/>
            <a:ext cx="3329315" cy="3102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Existing System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055F3B-D1FD-B3F4-DDC6-9409B888DB37}"/>
              </a:ext>
            </a:extLst>
          </p:cNvPr>
          <p:cNvSpPr txBox="1"/>
          <p:nvPr/>
        </p:nvSpPr>
        <p:spPr>
          <a:xfrm>
            <a:off x="671732" y="335356"/>
            <a:ext cx="7800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77F1A-6B29-6176-39F5-DAB96372129D}"/>
              </a:ext>
            </a:extLst>
          </p:cNvPr>
          <p:cNvSpPr txBox="1"/>
          <p:nvPr/>
        </p:nvSpPr>
        <p:spPr>
          <a:xfrm>
            <a:off x="1417896" y="1386972"/>
            <a:ext cx="6984090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Focuses on protecting enterprise networks, devices, and data from unauthorized access and cyber threats.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Involves network monitoring, identity management, access control, anomaly detection, and threat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Addresses limitations of traditional security using AI-driven adaptive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real-time monitoring, and automated threat response.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Aims to build resilient, intelligent, and self-defending network systems.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43E49F-6ED7-93FD-8747-EA751253FEB5}"/>
              </a:ext>
            </a:extLst>
          </p:cNvPr>
          <p:cNvSpPr txBox="1"/>
          <p:nvPr/>
        </p:nvSpPr>
        <p:spPr>
          <a:xfrm>
            <a:off x="2848793" y="1032718"/>
            <a:ext cx="4122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AND SECURITY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9267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505" y="367421"/>
            <a:ext cx="80959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86787" y="1409165"/>
            <a:ext cx="7195278" cy="3029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t>Traditional cybersecurity relies on static rules and reactive defenses that require heavy human intervention. CipherTwin integrates Digital Twin modeling, Explainable Zero-Trust access control, Adaptive Cyber Deception, and Quantum-Assisted Policy Reoptimization. The executable MVP mirrors network state from synthetic telemetry, scores access requests with explainable risk factors, routes high-risk activity into simulated decoys, and uses a classical QAOA-inspired optimizer for policy reweighting. Random Forest and Isolation Forest add data-driven threat classification and anomaly scoring. The result is a proactive, explainable, and auditable cybersecurity research prototype.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605" y="196947"/>
            <a:ext cx="80607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7349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IN" sz="1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F8B6DA-F266-662C-621F-FCE810665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011951"/>
              </p:ext>
            </p:extLst>
          </p:nvPr>
        </p:nvGraphicFramePr>
        <p:xfrm>
          <a:off x="1004341" y="913477"/>
          <a:ext cx="7465101" cy="381234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488367">
                  <a:extLst>
                    <a:ext uri="{9D8B030D-6E8A-4147-A177-3AD203B41FA5}">
                      <a16:colId xmlns:a16="http://schemas.microsoft.com/office/drawing/2014/main" val="2915435557"/>
                    </a:ext>
                  </a:extLst>
                </a:gridCol>
                <a:gridCol w="2488367">
                  <a:extLst>
                    <a:ext uri="{9D8B030D-6E8A-4147-A177-3AD203B41FA5}">
                      <a16:colId xmlns:a16="http://schemas.microsoft.com/office/drawing/2014/main" val="2937324720"/>
                    </a:ext>
                  </a:extLst>
                </a:gridCol>
                <a:gridCol w="2488367">
                  <a:extLst>
                    <a:ext uri="{9D8B030D-6E8A-4147-A177-3AD203B41FA5}">
                      <a16:colId xmlns:a16="http://schemas.microsoft.com/office/drawing/2014/main" val="1528756666"/>
                    </a:ext>
                  </a:extLst>
                </a:gridCol>
              </a:tblGrid>
              <a:tr h="257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PAPER TITLE</a:t>
                      </a:r>
                      <a:endParaRPr lang="en-IN" sz="1100" dirty="0"/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CONTRIBUTION</a:t>
                      </a:r>
                      <a:endParaRPr lang="en-IN" sz="1100" dirty="0"/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RESEARCH GAP</a:t>
                      </a:r>
                      <a:endParaRPr lang="en-IN" sz="1100" dirty="0"/>
                    </a:p>
                  </a:txBody>
                  <a:tcPr marL="53481" marR="53481" marT="26740" marB="26740" anchor="ctr"/>
                </a:tc>
                <a:extLst>
                  <a:ext uri="{0D108BD9-81ED-4DB2-BD59-A6C34878D82A}">
                    <a16:rowId xmlns:a16="http://schemas.microsoft.com/office/drawing/2014/main" val="4167429305"/>
                  </a:ext>
                </a:extLst>
              </a:tr>
              <a:tr h="1184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 err="1"/>
                        <a:t>DeCusatis</a:t>
                      </a:r>
                      <a:r>
                        <a:rPr lang="en-IN" sz="1100" b="1" dirty="0"/>
                        <a:t> et al., arXiv:2606.09469  </a:t>
                      </a:r>
                      <a:r>
                        <a:rPr lang="en-IN" sz="1100" b="0" dirty="0"/>
                        <a:t>Quantum Optimization for Honeynet Traffic Partitioning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• Uses QAOA-based Max-Cut optimization for honeypot routing.</a:t>
                      </a:r>
                    </a:p>
                    <a:p>
                      <a:pPr>
                        <a:buNone/>
                      </a:pPr>
                      <a:r>
                        <a:rPr lang="en-IN" sz="1100" b="0" dirty="0"/>
                        <a:t>• Tested on a 110-qubit IBM Quantum benchmark.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• Limited to static honeypot traffic partitioning.</a:t>
                      </a:r>
                    </a:p>
                    <a:p>
                      <a:pPr>
                        <a:buNone/>
                      </a:pPr>
                      <a:r>
                        <a:rPr lang="en-IN" sz="1100" b="0" dirty="0"/>
                        <a:t>• No real-time Zero-Trust policy adaptation.</a:t>
                      </a:r>
                    </a:p>
                  </a:txBody>
                  <a:tcPr marL="53481" marR="53481" marT="26740" marB="26740" anchor="ctr"/>
                </a:tc>
                <a:extLst>
                  <a:ext uri="{0D108BD9-81ED-4DB2-BD59-A6C34878D82A}">
                    <a16:rowId xmlns:a16="http://schemas.microsoft.com/office/drawing/2014/main" val="3597492747"/>
                  </a:ext>
                </a:extLst>
              </a:tr>
              <a:tr h="997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Al </a:t>
                      </a:r>
                      <a:r>
                        <a:rPr lang="en-IN" sz="1100" b="1" dirty="0" err="1"/>
                        <a:t>Ridhawi</a:t>
                      </a:r>
                      <a:r>
                        <a:rPr lang="en-IN" sz="1100" b="1" dirty="0"/>
                        <a:t> et al., 2023 — </a:t>
                      </a:r>
                      <a:r>
                        <a:rPr lang="en-IN" sz="1100" b="0" dirty="0"/>
                        <a:t>Decentralized Zero-Trust Framework for Digital Twin-enabled 6G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• Uses blockchain authentication for Digital Twin security.• Provides decentralized Zero-Trust access control.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• Rule-based decisions without explainable risk analysis.</a:t>
                      </a:r>
                    </a:p>
                    <a:p>
                      <a:pPr>
                        <a:buNone/>
                      </a:pPr>
                      <a:r>
                        <a:rPr lang="en-IN" sz="1100" b="0" dirty="0"/>
                        <a:t>• No adaptive deception and live telemetry optimization.</a:t>
                      </a:r>
                    </a:p>
                  </a:txBody>
                  <a:tcPr marL="53481" marR="53481" marT="26740" marB="26740" anchor="ctr"/>
                </a:tc>
                <a:extLst>
                  <a:ext uri="{0D108BD9-81ED-4DB2-BD59-A6C34878D82A}">
                    <a16:rowId xmlns:a16="http://schemas.microsoft.com/office/drawing/2014/main" val="972865099"/>
                  </a:ext>
                </a:extLst>
              </a:tr>
              <a:tr h="1371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Kumar et al., 2024 — </a:t>
                      </a:r>
                      <a:r>
                        <a:rPr lang="en-IN" sz="1100" b="0" dirty="0"/>
                        <a:t>Digital Twins-enabled Zero Touch Network: Smart Contract and Explainable AI Cybersecurity Framework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• </a:t>
                      </a:r>
                      <a:r>
                        <a:rPr lang="en-IN" sz="1100" b="0" dirty="0"/>
                        <a:t>Integrates Blockchain, Smart Contracts, and Explainable AI (XAI) for Digital Twin </a:t>
                      </a:r>
                      <a:r>
                        <a:rPr lang="en-IN" sz="1100" dirty="0"/>
                        <a:t>security.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• Provides trusted authentication and access control.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• Focuses on trust management and detection.</a:t>
                      </a:r>
                    </a:p>
                    <a:p>
                      <a:pPr>
                        <a:buNone/>
                      </a:pPr>
                      <a:r>
                        <a:rPr lang="en-IN" sz="1100" b="0" dirty="0"/>
                        <a:t>• No quantum optimization or adaptive cyber deception response.</a:t>
                      </a:r>
                    </a:p>
                  </a:txBody>
                  <a:tcPr marL="53481" marR="53481" marT="26740" marB="26740" anchor="ctr"/>
                </a:tc>
                <a:extLst>
                  <a:ext uri="{0D108BD9-81ED-4DB2-BD59-A6C34878D82A}">
                    <a16:rowId xmlns:a16="http://schemas.microsoft.com/office/drawing/2014/main" val="26814123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5694"/>
            <a:ext cx="805375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91718" y="1148247"/>
            <a:ext cx="7030388" cy="31614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Zero-Trust systems are static and rule-based, unable to adapt to evolving threats.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explainable risk analysis and intelligent decision-making.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deception methods are non-adaptive and easily detectable by attackers.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policy optimization becomes computationally expensive with increasing telemetry.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adaptive, explainable, and quantum-efficient closed-loop cyber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5F584C73-99D8-5ED3-E2BD-A1D03B4EDEE1}"/>
              </a:ext>
            </a:extLst>
          </p:cNvPr>
          <p:cNvSpPr/>
          <p:nvPr/>
        </p:nvSpPr>
        <p:spPr>
          <a:xfrm>
            <a:off x="637773" y="149901"/>
            <a:ext cx="80607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538EF8-20A7-95B6-DC51-507748D27078}"/>
              </a:ext>
            </a:extLst>
          </p:cNvPr>
          <p:cNvSpPr txBox="1"/>
          <p:nvPr/>
        </p:nvSpPr>
        <p:spPr>
          <a:xfrm>
            <a:off x="637773" y="954509"/>
            <a:ext cx="7934179" cy="3835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firewalls &amp; signature-based IDS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only known attack patterns 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configured Zero-Trust policies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fixed rules, no adaptive scoring 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honeypots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unchanged deception, easily fingerprinted by attackers 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manual policy updates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slow adaptation to new threats 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explainability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decisions lack clear justification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policy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Reoptimization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relies on classical, static methods</a:t>
            </a:r>
          </a:p>
          <a:p>
            <a:pPr algn="just"/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Detection: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fixed rules and signature-based detection, making it ineffective against new and evolving attacks.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Explainability: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 Trust decisions provide little or no justification for access control 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Non-Adaptive Deception: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 honeypots are easily detected and bypassed by attackers.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or traditional policy updates struggle to handle large-scale networks, leading to higher false positives and slower threat response.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812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78659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3255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400" dirty="0"/>
              <a:t>Digital Twin Construction: synthetic EDR-style telemetry is mirrored into a </a:t>
            </a:r>
            <a:r>
              <a:rPr sz="1400" dirty="0" err="1"/>
              <a:t>queryable</a:t>
            </a:r>
            <a:r>
              <a:rPr sz="1400" dirty="0"/>
              <a:t> SQLite-backed graph abstraction.</a:t>
            </a:r>
          </a:p>
          <a:p>
            <a:endParaRPr sz="1400" dirty="0"/>
          </a:p>
          <a:p>
            <a:r>
              <a:rPr sz="1400" dirty="0"/>
              <a:t>Explainable Zero-Trust Scoring (EZTE): each event is scored across identity, </a:t>
            </a:r>
            <a:r>
              <a:rPr sz="1400" dirty="0" err="1"/>
              <a:t>behaviour</a:t>
            </a:r>
            <a:r>
              <a:rPr sz="1400" dirty="0"/>
              <a:t>, device, location, and history factors, with human-readable reasons.</a:t>
            </a:r>
          </a:p>
          <a:p>
            <a:endParaRPr sz="1400" dirty="0"/>
          </a:p>
          <a:p>
            <a:r>
              <a:rPr sz="1400" dirty="0"/>
              <a:t>Adaptive Deception Trigger (ACDE): elevated-risk sessions activate simulated decoys and honeytokens, with activity logged for threat intelligence.</a:t>
            </a:r>
          </a:p>
          <a:p>
            <a:endParaRPr sz="1400" dirty="0"/>
          </a:p>
          <a:p>
            <a:r>
              <a:rPr sz="1400" dirty="0"/>
              <a:t>Threat Intelligence: suspicious activity is correlated with seeded MITRE ATT&amp;CK techniques and adversary profiles.</a:t>
            </a:r>
          </a:p>
          <a:p>
            <a:endParaRPr sz="1400" dirty="0"/>
          </a:p>
          <a:p>
            <a:r>
              <a:rPr sz="1400" dirty="0"/>
              <a:t>Quantum-Assisted Policy </a:t>
            </a:r>
            <a:r>
              <a:rPr sz="1400" dirty="0" err="1"/>
              <a:t>Reoptimization</a:t>
            </a:r>
            <a:r>
              <a:rPr sz="1400" dirty="0"/>
              <a:t> (QAPRE): the MVP uses a classical QAOA-inspired simulation for policy reweighting and cost analysis. Literal PennyLane/QUBO execution is a future integration.</a:t>
            </a:r>
          </a:p>
          <a:p>
            <a:endParaRPr sz="1400" dirty="0"/>
          </a:p>
          <a:p>
            <a:r>
              <a:rPr sz="1400" dirty="0"/>
              <a:t>Explainable Feedback Loop: decisions, deception events, and optimization results are exposed through the React analyst dashboard and audit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1158"/>
            <a:ext cx="841248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3593592"/>
            <a:ext cx="1567971" cy="31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0731" y="4159973"/>
            <a:ext cx="841248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 drives explainable risk scoring and simulated adaptive deception; threat intelligence feeds a classical QAOA-inspired policy reoptimization loop with auditable outputs.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A31C37B-D76A-4163-4D65-02EEC4EDC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85" y="929503"/>
            <a:ext cx="7037881" cy="33277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244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71136"/>
            <a:ext cx="8138160" cy="3443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000" dirty="0"/>
              <a:t>🔹 Digital Twin &amp; Risk Engine</a:t>
            </a:r>
          </a:p>
          <a:p>
            <a:r>
              <a:rPr sz="1000" dirty="0"/>
              <a:t>Python — Core logic &amp; orchestration</a:t>
            </a:r>
          </a:p>
          <a:p>
            <a:r>
              <a:rPr sz="1000" dirty="0"/>
              <a:t>SQLite-backed </a:t>
            </a:r>
            <a:r>
              <a:rPr sz="1000" dirty="0" err="1"/>
              <a:t>GraphStore</a:t>
            </a:r>
            <a:r>
              <a:rPr sz="1000" dirty="0"/>
              <a:t> — Digital Twin graph model (Neo4j-ready abstraction)</a:t>
            </a:r>
            <a:r>
              <a:rPr lang="en-US" sz="1000" dirty="0"/>
              <a:t> </a:t>
            </a:r>
            <a:r>
              <a:rPr sz="1000" dirty="0"/>
              <a:t>Weighted Zero-Trust Risk Function — Access risk scoring</a:t>
            </a:r>
          </a:p>
          <a:p>
            <a:r>
              <a:rPr sz="1000" dirty="0"/>
              <a:t>Random Forest + Isolation Forest — ML threat/anomaly analysis</a:t>
            </a:r>
          </a:p>
          <a:p>
            <a:r>
              <a:rPr sz="1000" dirty="0"/>
              <a:t>🔹 Telemetry &amp; Data Sources</a:t>
            </a:r>
          </a:p>
          <a:p>
            <a:r>
              <a:rPr sz="1000" dirty="0"/>
              <a:t>Python background worker — Synthetic EDR telemetry pipeline</a:t>
            </a:r>
            <a:r>
              <a:rPr lang="en-US" sz="1000" dirty="0"/>
              <a:t>  </a:t>
            </a:r>
            <a:r>
              <a:rPr sz="1000" dirty="0"/>
              <a:t>RabbitMQ — Integration-ready / future external telemetry broker</a:t>
            </a:r>
          </a:p>
          <a:p>
            <a:r>
              <a:rPr sz="1000" dirty="0"/>
              <a:t>🔹 Deception Layer</a:t>
            </a:r>
          </a:p>
          <a:p>
            <a:r>
              <a:rPr sz="1000" dirty="0"/>
              <a:t>Docker-ready decoy simulation — Risk-triggered deception sessions</a:t>
            </a:r>
            <a:r>
              <a:rPr lang="en-US" sz="1000" dirty="0"/>
              <a:t> </a:t>
            </a:r>
            <a:r>
              <a:rPr sz="1000" dirty="0"/>
              <a:t>Honeytokens + threat activity logging — Attacker-</a:t>
            </a:r>
            <a:r>
              <a:rPr sz="1000" dirty="0" err="1"/>
              <a:t>behaviour</a:t>
            </a:r>
            <a:r>
              <a:rPr sz="1000" dirty="0"/>
              <a:t> capture</a:t>
            </a:r>
            <a:r>
              <a:rPr lang="en-US" sz="1000" dirty="0"/>
              <a:t>  </a:t>
            </a:r>
            <a:r>
              <a:rPr sz="1000" dirty="0"/>
              <a:t>Cowrie — Integration-ready / future live SSH/Telnet honeypot</a:t>
            </a:r>
          </a:p>
          <a:p>
            <a:r>
              <a:rPr sz="1000" dirty="0"/>
              <a:t>🔹 Quantum-Assisted Policy Optimization</a:t>
            </a:r>
          </a:p>
          <a:p>
            <a:r>
              <a:rPr sz="1000" dirty="0"/>
              <a:t>QAOA-inspired classical simulation — Policy reweighting and cost analysis</a:t>
            </a:r>
          </a:p>
          <a:p>
            <a:r>
              <a:rPr sz="1000" dirty="0"/>
              <a:t>NumPy / Python — Optimization computation</a:t>
            </a:r>
            <a:r>
              <a:rPr lang="en-US" sz="1000" dirty="0"/>
              <a:t>  </a:t>
            </a:r>
            <a:r>
              <a:rPr sz="1000" dirty="0"/>
              <a:t>PennyLane + literal QUBO execution — Future quantum integration</a:t>
            </a:r>
          </a:p>
          <a:p>
            <a:r>
              <a:rPr sz="1000" dirty="0"/>
              <a:t>🔹 Explainability &amp; Feedback</a:t>
            </a:r>
          </a:p>
          <a:p>
            <a:r>
              <a:rPr sz="1000" dirty="0"/>
              <a:t>Jinja2 — Human-readable risk explanations</a:t>
            </a:r>
            <a:r>
              <a:rPr lang="en-US" sz="1000" dirty="0"/>
              <a:t>  </a:t>
            </a:r>
            <a:r>
              <a:rPr sz="1000" dirty="0"/>
              <a:t>React / TypeScript dashboard — Analyst feedback and visualization</a:t>
            </a:r>
            <a:r>
              <a:rPr lang="en-US" sz="1000" dirty="0"/>
              <a:t> </a:t>
            </a:r>
            <a:r>
              <a:rPr sz="1000" dirty="0" err="1"/>
              <a:t>Streamlit</a:t>
            </a:r>
            <a:r>
              <a:rPr sz="1000" dirty="0"/>
              <a:t> — Not used in the executable MVP</a:t>
            </a:r>
          </a:p>
          <a:p>
            <a:r>
              <a:rPr sz="1000" dirty="0"/>
              <a:t>🔹 Deployment &amp; Integration</a:t>
            </a:r>
          </a:p>
          <a:p>
            <a:r>
              <a:rPr sz="1000" dirty="0" err="1"/>
              <a:t>FastAPI</a:t>
            </a:r>
            <a:r>
              <a:rPr sz="1000" dirty="0"/>
              <a:t> — Core API layer</a:t>
            </a:r>
            <a:r>
              <a:rPr lang="en-US" sz="1000" dirty="0"/>
              <a:t>  </a:t>
            </a:r>
            <a:r>
              <a:rPr sz="1000" dirty="0" err="1"/>
              <a:t>SQLAlchemy</a:t>
            </a:r>
            <a:r>
              <a:rPr sz="1000" dirty="0"/>
              <a:t> + SQLite — Persistence</a:t>
            </a:r>
            <a:r>
              <a:rPr lang="en-US" sz="1000" dirty="0"/>
              <a:t>  </a:t>
            </a:r>
            <a:r>
              <a:rPr sz="1000" dirty="0"/>
              <a:t>Docker Compose — System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Verification note: technologies marked integration-ready/future are not active runtime dependencies in the self-contained MVP.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0020"/>
            <a:ext cx="80678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7715"/>
            <a:ext cx="8229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9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Rose, S., Borchert, O., Mitchell, S., &amp; Connelly, S., "Zero Trust Architecture," NIST Special Publication 800-207, 2020.</a:t>
            </a:r>
            <a:endParaRPr lang="en-US" sz="1300" dirty="0"/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</a:t>
            </a:r>
            <a:r>
              <a:rPr lang="en-US" sz="13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Ridhawi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I., et al., "Decentralized Zero-Trust Framework for Digital Twin-based 6G," </a:t>
            </a: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arXiv:2302.03107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Feb. 2023.</a:t>
            </a:r>
            <a:endParaRPr lang="en-US" sz="1300" dirty="0"/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Bergholm, V., Izaac, J., Schuld, M., et al., "PennyLane: Automatic Differentiation of Hybrid Quantum-Classical Computations," </a:t>
            </a: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arXiv:1811.04968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2018.</a:t>
            </a:r>
            <a:endParaRPr lang="en-US" sz="1300" dirty="0"/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Farhi, E., Goldstone, J., &amp; Gutmann, S., "A Quantum Approximate Optimization Algorithm," </a:t>
            </a: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arXiv:1411.4028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2014.</a:t>
            </a:r>
            <a:endParaRPr lang="en-US" sz="1300" dirty="0"/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Bhattacharyya, B., et al., "Hardware-Aware QAOA for Honeypot Traffic Partitioning on 100+ Qubit IBM Quantum Processors," </a:t>
            </a: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arXiv:2606.09469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2026.</a:t>
            </a:r>
            <a:endParaRPr lang="en-US" sz="1300" dirty="0"/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Cao, Y., et al., "HoneyIoT: Adaptive High-Interaction Honeypot for IoT Devices Through Reinforcement Learning," </a:t>
            </a: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arXiv:2305.06430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2023.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endParaRPr lang="en-US" sz="1300" dirty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774" y="199762"/>
            <a:ext cx="80185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5B0FA-89E6-158E-740B-3B1D53DAD964}"/>
              </a:ext>
            </a:extLst>
          </p:cNvPr>
          <p:cNvSpPr txBox="1"/>
          <p:nvPr/>
        </p:nvSpPr>
        <p:spPr>
          <a:xfrm>
            <a:off x="670560" y="682752"/>
            <a:ext cx="775411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Honeypots: Dynamic Deception Tactics in Modern Cyber </a:t>
            </a:r>
            <a:r>
              <a:rPr lang="en-IN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ResearchGate, 2025.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Kareem, S.A., Sachan, R.C., &amp; Malviya, R.K. AI-Driven Adaptive Honeypots for Dynamic Cyber Threats. SSRN, 2024.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Oosterhof, M. Cowrie SSH/Telnet Honeypot (Open-source deception framework).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Farhi, E., Goldstone, J., &amp; Gutmann, S. (2014). A Quantum Approximate Optimization Algorithm. arXiv:1411.4028.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Bhattacharyya, B., et al. (2025). Solving General QUBOs with Warm-Start QAOA via a Reduction to Max-Cut. arXiv:2504.06253.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9609"/>
            <a:ext cx="80607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79224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08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D09D9-87C7-DB60-025A-4FE8E464CA7E}"/>
              </a:ext>
            </a:extLst>
          </p:cNvPr>
          <p:cNvSpPr txBox="1"/>
          <p:nvPr/>
        </p:nvSpPr>
        <p:spPr>
          <a:xfrm>
            <a:off x="2808234" y="1979205"/>
            <a:ext cx="386238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1266</Words>
  <Application>Microsoft Office PowerPoint</Application>
  <PresentationFormat>On-screen Show (16:9)</PresentationFormat>
  <Paragraphs>118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lavanyaragavan08@outlook.com</cp:lastModifiedBy>
  <cp:revision>8</cp:revision>
  <dcterms:created xsi:type="dcterms:W3CDTF">2026-07-21T04:34:25Z</dcterms:created>
  <dcterms:modified xsi:type="dcterms:W3CDTF">2026-09-02T18:31:39Z</dcterms:modified>
</cp:coreProperties>
</file>
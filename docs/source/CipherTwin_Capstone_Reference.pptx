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60" r:id="rId6"/>
    <p:sldId id="259" r:id="rId7"/>
    <p:sldId id="268" r:id="rId8"/>
    <p:sldId id="261" r:id="rId9"/>
    <p:sldId id="262" r:id="rId10"/>
    <p:sldId id="264" r:id="rId11"/>
    <p:sldId id="267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D26F2-748A-44D1-ABEC-AC5BAFD6BA5A}" v="28" dt="2026-07-22T08:52:20.995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" userId="0ce5141c488deb3d" providerId="LiveId" clId="{0A68C8E8-75F6-47E5-9727-2E2829B7A54D}"/>
    <pc:docChg chg="undo custSel modSld">
      <pc:chgData name="YOGESH R" userId="0ce5141c488deb3d" providerId="LiveId" clId="{0A68C8E8-75F6-47E5-9727-2E2829B7A54D}" dt="2026-07-22T08:54:17.989" v="552" actId="1076"/>
      <pc:docMkLst>
        <pc:docMk/>
      </pc:docMkLst>
      <pc:sldChg chg="modSp mod">
        <pc:chgData name="YOGESH R" userId="0ce5141c488deb3d" providerId="LiveId" clId="{0A68C8E8-75F6-47E5-9727-2E2829B7A54D}" dt="2026-07-22T08:15:35.361" v="305" actId="14100"/>
        <pc:sldMkLst>
          <pc:docMk/>
          <pc:sldMk cId="0" sldId="256"/>
        </pc:sldMkLst>
        <pc:spChg chg="mod">
          <ac:chgData name="YOGESH R" userId="0ce5141c488deb3d" providerId="LiveId" clId="{0A68C8E8-75F6-47E5-9727-2E2829B7A54D}" dt="2026-07-22T08:14:25.937" v="29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30.961" v="29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38.126" v="29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YOGESH R" userId="0ce5141c488deb3d" providerId="LiveId" clId="{0A68C8E8-75F6-47E5-9727-2E2829B7A54D}" dt="2026-07-22T08:15:35.361" v="305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YOGESH R" userId="0ce5141c488deb3d" providerId="LiveId" clId="{0A68C8E8-75F6-47E5-9727-2E2829B7A54D}" dt="2026-07-22T08:14:13.251" v="296" actId="255"/>
          <ac:spMkLst>
            <pc:docMk/>
            <pc:sldMk cId="0" sldId="256"/>
            <ac:spMk id="9" creationId="{F4A942E3-C6F4-9182-D107-04AF90A40E64}"/>
          </ac:spMkLst>
        </pc:spChg>
      </pc:sldChg>
      <pc:sldChg chg="modSp mod">
        <pc:chgData name="YOGESH R" userId="0ce5141c488deb3d" providerId="LiveId" clId="{0A68C8E8-75F6-47E5-9727-2E2829B7A54D}" dt="2026-07-22T08:28:58.768" v="354" actId="1076"/>
        <pc:sldMkLst>
          <pc:docMk/>
          <pc:sldMk cId="0" sldId="257"/>
        </pc:sldMkLst>
        <pc:spChg chg="mod">
          <ac:chgData name="YOGESH R" userId="0ce5141c488deb3d" providerId="LiveId" clId="{0A68C8E8-75F6-47E5-9727-2E2829B7A54D}" dt="2026-07-22T08:28:58.768" v="354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4:17.989" v="552" actId="1076"/>
        <pc:sldMkLst>
          <pc:docMk/>
          <pc:sldMk cId="0" sldId="258"/>
        </pc:sldMkLst>
        <pc:spChg chg="mod">
          <ac:chgData name="YOGESH R" userId="0ce5141c488deb3d" providerId="LiveId" clId="{0A68C8E8-75F6-47E5-9727-2E2829B7A54D}" dt="2026-07-22T08:53:55.847" v="55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YOGESH R" userId="0ce5141c488deb3d" providerId="LiveId" clId="{0A68C8E8-75F6-47E5-9727-2E2829B7A54D}" dt="2026-07-22T08:54:17.989" v="552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0:31.698" v="498" actId="14100"/>
        <pc:sldMkLst>
          <pc:docMk/>
          <pc:sldMk cId="0" sldId="259"/>
        </pc:sldMkLst>
        <pc:spChg chg="mod">
          <ac:chgData name="YOGESH R" userId="0ce5141c488deb3d" providerId="LiveId" clId="{0A68C8E8-75F6-47E5-9727-2E2829B7A54D}" dt="2026-07-22T08:50:31.698" v="498" actId="14100"/>
          <ac:spMkLst>
            <pc:docMk/>
            <pc:sldMk cId="0" sldId="259"/>
            <ac:spMk id="3" creationId="{00000000-0000-0000-0000-000000000000}"/>
          </ac:spMkLst>
        </pc:spChg>
      </pc:sldChg>
      <pc:sldChg chg="addSp modSp mod">
        <pc:chgData name="YOGESH R" userId="0ce5141c488deb3d" providerId="LiveId" clId="{0A68C8E8-75F6-47E5-9727-2E2829B7A54D}" dt="2026-07-22T08:49:29.053" v="467" actId="1035"/>
        <pc:sldMkLst>
          <pc:docMk/>
          <pc:sldMk cId="0" sldId="260"/>
        </pc:sldMkLst>
        <pc:spChg chg="mod">
          <ac:chgData name="YOGESH R" userId="0ce5141c488deb3d" providerId="LiveId" clId="{0A68C8E8-75F6-47E5-9727-2E2829B7A54D}" dt="2026-07-22T08:39:08.688" v="367" actId="20577"/>
          <ac:spMkLst>
            <pc:docMk/>
            <pc:sldMk cId="0" sldId="260"/>
            <ac:spMk id="3" creationId="{00000000-0000-0000-0000-000000000000}"/>
          </ac:spMkLst>
        </pc:spChg>
        <pc:graphicFrameChg chg="add mod">
          <ac:chgData name="YOGESH R" userId="0ce5141c488deb3d" providerId="LiveId" clId="{0A68C8E8-75F6-47E5-9727-2E2829B7A54D}" dt="2026-07-22T08:38:52.144" v="364"/>
          <ac:graphicFrameMkLst>
            <pc:docMk/>
            <pc:sldMk cId="0" sldId="260"/>
            <ac:graphicFrameMk id="4" creationId="{129E0176-19C3-EFB5-ED08-88A1796EAD84}"/>
          </ac:graphicFrameMkLst>
        </pc:graphicFrameChg>
        <pc:graphicFrameChg chg="add mod modGraphic">
          <ac:chgData name="YOGESH R" userId="0ce5141c488deb3d" providerId="LiveId" clId="{0A68C8E8-75F6-47E5-9727-2E2829B7A54D}" dt="2026-07-22T08:49:29.053" v="467" actId="1035"/>
          <ac:graphicFrameMkLst>
            <pc:docMk/>
            <pc:sldMk cId="0" sldId="260"/>
            <ac:graphicFrameMk id="5" creationId="{FEF8B6DA-F266-662C-621F-FCE810665CB5}"/>
          </ac:graphicFrameMkLst>
        </pc:graphicFrameChg>
      </pc:sldChg>
      <pc:sldChg chg="modSp mod">
        <pc:chgData name="YOGESH R" userId="0ce5141c488deb3d" providerId="LiveId" clId="{0A68C8E8-75F6-47E5-9727-2E2829B7A54D}" dt="2026-07-22T08:04:29.481" v="195" actId="1076"/>
        <pc:sldMkLst>
          <pc:docMk/>
          <pc:sldMk cId="0" sldId="261"/>
        </pc:sldMkLst>
        <pc:spChg chg="mod">
          <ac:chgData name="YOGESH R" userId="0ce5141c488deb3d" providerId="LiveId" clId="{0A68C8E8-75F6-47E5-9727-2E2829B7A54D}" dt="2026-07-22T08:04:29.481" v="195" actId="1076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YOGESH R" userId="0ce5141c488deb3d" providerId="LiveId" clId="{0A68C8E8-75F6-47E5-9727-2E2829B7A54D}" dt="2026-07-22T07:57:10.241" v="188" actId="1037"/>
        <pc:sldMkLst>
          <pc:docMk/>
          <pc:sldMk cId="0" sldId="262"/>
        </pc:sldMkLst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19.423" v="17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54.243" v="105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YOGESH R" userId="0ce5141c488deb3d" providerId="LiveId" clId="{0A68C8E8-75F6-47E5-9727-2E2829B7A54D}" dt="2026-07-22T07:53:52.786" v="104" actId="14100"/>
          <ac:spMkLst>
            <pc:docMk/>
            <pc:sldMk cId="0" sldId="262"/>
            <ac:spMk id="8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32.433" v="20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YOGESH R" userId="0ce5141c488deb3d" providerId="LiveId" clId="{0A68C8E8-75F6-47E5-9727-2E2829B7A54D}" dt="2026-07-22T07:53:26.554" v="19" actId="478"/>
          <ac:spMkLst>
            <pc:docMk/>
            <pc:sldMk cId="0" sldId="262"/>
            <ac:spMk id="19" creationId="{00000000-0000-0000-0000-000000000000}"/>
          </ac:spMkLst>
        </pc:spChg>
        <pc:spChg chg="mod">
          <ac:chgData name="YOGESH R" userId="0ce5141c488deb3d" providerId="LiveId" clId="{0A68C8E8-75F6-47E5-9727-2E2829B7A54D}" dt="2026-07-22T07:56:55.213" v="161" actId="1036"/>
          <ac:spMkLst>
            <pc:docMk/>
            <pc:sldMk cId="0" sldId="262"/>
            <ac:spMk id="21" creationId="{00000000-0000-0000-0000-000000000000}"/>
          </ac:spMkLst>
        </pc:spChg>
        <pc:spChg chg="add del">
          <ac:chgData name="YOGESH R" userId="0ce5141c488deb3d" providerId="LiveId" clId="{0A68C8E8-75F6-47E5-9727-2E2829B7A54D}" dt="2026-07-22T07:55:33.627" v="111" actId="22"/>
          <ac:spMkLst>
            <pc:docMk/>
            <pc:sldMk cId="0" sldId="262"/>
            <ac:spMk id="22" creationId="{5759A263-A122-61EE-BC83-BB61D0390E4B}"/>
          </ac:spMkLst>
        </pc:spChg>
        <pc:picChg chg="add mod">
          <ac:chgData name="YOGESH R" userId="0ce5141c488deb3d" providerId="LiveId" clId="{0A68C8E8-75F6-47E5-9727-2E2829B7A54D}" dt="2026-07-22T07:57:10.241" v="188" actId="1037"/>
          <ac:picMkLst>
            <pc:docMk/>
            <pc:sldMk cId="0" sldId="262"/>
            <ac:picMk id="25" creationId="{3A31C37B-D76A-4163-4D65-02EEC4EDCF41}"/>
          </ac:picMkLst>
        </pc:picChg>
        <pc:cxnChg chg="del mod">
          <ac:chgData name="YOGESH R" userId="0ce5141c488deb3d" providerId="LiveId" clId="{0A68C8E8-75F6-47E5-9727-2E2829B7A54D}" dt="2026-07-22T07:53:26.554" v="19" actId="478"/>
          <ac:cxnSpMkLst>
            <pc:docMk/>
            <pc:sldMk cId="0" sldId="262"/>
            <ac:cxnSpMk id="23" creationId="{CCC4E387-7986-6D73-13F9-4D0BB7AC7F58}"/>
          </ac:cxnSpMkLst>
        </pc:cxnChg>
      </pc:sldChg>
      <pc:sldChg chg="modSp mod">
        <pc:chgData name="YOGESH R" userId="0ce5141c488deb3d" providerId="LiveId" clId="{0A68C8E8-75F6-47E5-9727-2E2829B7A54D}" dt="2026-07-22T08:12:08.526" v="294" actId="255"/>
        <pc:sldMkLst>
          <pc:docMk/>
          <pc:sldMk cId="0" sldId="264"/>
        </pc:sldMkLst>
        <pc:spChg chg="mod">
          <ac:chgData name="YOGESH R" userId="0ce5141c488deb3d" providerId="LiveId" clId="{0A68C8E8-75F6-47E5-9727-2E2829B7A54D}" dt="2026-07-22T08:12:02.362" v="293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YOGESH R" userId="0ce5141c488deb3d" providerId="LiveId" clId="{0A68C8E8-75F6-47E5-9727-2E2829B7A54D}" dt="2026-07-22T08:12:08.526" v="294" actId="255"/>
          <ac:spMkLst>
            <pc:docMk/>
            <pc:sldMk cId="0" sldId="264"/>
            <ac:spMk id="4" creationId="{5E8E846C-542E-D124-5AA6-F66994C4FE72}"/>
          </ac:spMkLst>
        </pc:spChg>
      </pc:sldChg>
      <pc:sldChg chg="addSp delSp modSp mod">
        <pc:chgData name="YOGESH R" userId="0ce5141c488deb3d" providerId="LiveId" clId="{0A68C8E8-75F6-47E5-9727-2E2829B7A54D}" dt="2026-07-22T08:11:41.993" v="291" actId="2710"/>
        <pc:sldMkLst>
          <pc:docMk/>
          <pc:sldMk cId="0" sldId="265"/>
        </pc:sldMkLst>
        <pc:spChg chg="add del mod">
          <ac:chgData name="YOGESH R" userId="0ce5141c488deb3d" providerId="LiveId" clId="{0A68C8E8-75F6-47E5-9727-2E2829B7A54D}" dt="2026-07-22T08:11:41.993" v="291" actId="2710"/>
          <ac:spMkLst>
            <pc:docMk/>
            <pc:sldMk cId="0" sldId="265"/>
            <ac:spMk id="4" creationId="{5BE5B0FA-89E6-158E-740B-3B1D53DAD964}"/>
          </ac:spMkLst>
        </pc:spChg>
      </pc:sldChg>
      <pc:sldChg chg="addSp modSp mod">
        <pc:chgData name="YOGESH R" userId="0ce5141c488deb3d" providerId="LiveId" clId="{0A68C8E8-75F6-47E5-9727-2E2829B7A54D}" dt="2026-07-22T08:53:32.901" v="548" actId="1076"/>
        <pc:sldMkLst>
          <pc:docMk/>
          <pc:sldMk cId="0" sldId="266"/>
        </pc:sldMkLst>
        <pc:spChg chg="add mod">
          <ac:chgData name="YOGESH R" userId="0ce5141c488deb3d" providerId="LiveId" clId="{0A68C8E8-75F6-47E5-9727-2E2829B7A54D}" dt="2026-07-22T08:53:32.901" v="548" actId="1076"/>
          <ac:spMkLst>
            <pc:docMk/>
            <pc:sldMk cId="0" sldId="266"/>
            <ac:spMk id="4" creationId="{002D09D9-87C7-DB60-025A-4FE8E464CA7E}"/>
          </ac:spMkLst>
        </pc:spChg>
      </pc:sldChg>
      <pc:sldChg chg="modSp mod">
        <pc:chgData name="YOGESH R" userId="0ce5141c488deb3d" providerId="LiveId" clId="{0A68C8E8-75F6-47E5-9727-2E2829B7A54D}" dt="2026-07-22T08:11:29.291" v="290" actId="2710"/>
        <pc:sldMkLst>
          <pc:docMk/>
          <pc:sldMk cId="0" sldId="267"/>
        </pc:sldMkLst>
        <pc:spChg chg="mod">
          <ac:chgData name="YOGESH R" userId="0ce5141c488deb3d" providerId="LiveId" clId="{0A68C8E8-75F6-47E5-9727-2E2829B7A54D}" dt="2026-07-22T08:11:29.291" v="290" actId="271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YOGESH R" userId="0ce5141c488deb3d" providerId="LiveId" clId="{0A68C8E8-75F6-47E5-9727-2E2829B7A54D}" dt="2026-07-22T08:51:56.773" v="528" actId="20577"/>
        <pc:sldMkLst>
          <pc:docMk/>
          <pc:sldMk cId="2526812212" sldId="268"/>
        </pc:sldMkLst>
        <pc:spChg chg="mod">
          <ac:chgData name="YOGESH R" userId="0ce5141c488deb3d" providerId="LiveId" clId="{0A68C8E8-75F6-47E5-9727-2E2829B7A54D}" dt="2026-07-22T08:51:42.977" v="522" actId="20577"/>
          <ac:spMkLst>
            <pc:docMk/>
            <pc:sldMk cId="2526812212" sldId="268"/>
            <ac:spMk id="7" creationId="{5F584C73-99D8-5ED3-E2BD-A1D03B4EDEE1}"/>
          </ac:spMkLst>
        </pc:spChg>
        <pc:spChg chg="mod">
          <ac:chgData name="YOGESH R" userId="0ce5141c488deb3d" providerId="LiveId" clId="{0A68C8E8-75F6-47E5-9727-2E2829B7A54D}" dt="2026-07-22T08:51:56.773" v="528" actId="20577"/>
          <ac:spMkLst>
            <pc:docMk/>
            <pc:sldMk cId="2526812212" sldId="268"/>
            <ac:spMk id="11" creationId="{78538EF8-20A7-95B6-DC51-507748D27078}"/>
          </ac:spMkLst>
        </pc:spChg>
      </pc:sldChg>
      <pc:sldChg chg="addSp delSp modSp mod">
        <pc:chgData name="YOGESH R" userId="0ce5141c488deb3d" providerId="LiveId" clId="{0A68C8E8-75F6-47E5-9727-2E2829B7A54D}" dt="2026-07-22T08:48:48.222" v="457" actId="1076"/>
        <pc:sldMkLst>
          <pc:docMk/>
          <pc:sldMk cId="2792677539" sldId="269"/>
        </pc:sldMkLst>
        <pc:spChg chg="add mod">
          <ac:chgData name="YOGESH R" userId="0ce5141c488deb3d" providerId="LiveId" clId="{0A68C8E8-75F6-47E5-9727-2E2829B7A54D}" dt="2026-07-22T08:48:24.568" v="454" actId="1076"/>
          <ac:spMkLst>
            <pc:docMk/>
            <pc:sldMk cId="2792677539" sldId="269"/>
            <ac:spMk id="2" creationId="{9943E49F-6ED7-93FD-8747-EA751253FEB5}"/>
          </ac:spMkLst>
        </pc:spChg>
        <pc:spChg chg="add del mod">
          <ac:chgData name="YOGESH R" userId="0ce5141c488deb3d" providerId="LiveId" clId="{0A68C8E8-75F6-47E5-9727-2E2829B7A54D}" dt="2026-07-22T08:48:11.753" v="452"/>
          <ac:spMkLst>
            <pc:docMk/>
            <pc:sldMk cId="2792677539" sldId="269"/>
            <ac:spMk id="4" creationId="{77B24268-EA80-BC3F-9D40-18E4C177C797}"/>
          </ac:spMkLst>
        </pc:spChg>
        <pc:spChg chg="mod">
          <ac:chgData name="YOGESH R" userId="0ce5141c488deb3d" providerId="LiveId" clId="{0A68C8E8-75F6-47E5-9727-2E2829B7A54D}" dt="2026-07-22T08:48:48.222" v="457" actId="1076"/>
          <ac:spMkLst>
            <pc:docMk/>
            <pc:sldMk cId="2792677539" sldId="269"/>
            <ac:spMk id="5" creationId="{4F577F1A-6B29-6176-39F5-DAB9637212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13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23" y="223500"/>
            <a:ext cx="8324557" cy="9879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71696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CAPSTONE PROJECT - 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02920" y="2077974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CIPHERTWIN: AN AUTONOMOUS CYBER DEFENSE FRAMEWORK FOR EXPLAINABLE ZERO-TRUST SECURITY USING DIGITAL TWIN, ADAPTIVE CYBER DECEPTION, AND QUANTUM-ASSISTED POLICY REOPTIMIZATION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65760" y="275691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3399106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RAJESWARI B  (23TD0384)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DEEPIKA S  (23TD0322)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THAARANI C  (23TD0413)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LAVANYA P  (23TD0376)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79102" y="3399106"/>
            <a:ext cx="3867289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S. Pariselvam, M.E., PhD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HOD,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942E3-C6F4-9182-D107-04AF90A40E64}"/>
              </a:ext>
            </a:extLst>
          </p:cNvPr>
          <p:cNvSpPr txBox="1"/>
          <p:nvPr/>
        </p:nvSpPr>
        <p:spPr>
          <a:xfrm>
            <a:off x="2192801" y="1341901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468724" y="1064305"/>
            <a:ext cx="3329315" cy="3102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Existing System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1700" dirty="0"/>
          </a:p>
          <a:p>
            <a:pPr marL="342900" indent="-342900" algn="l">
              <a:spcAft>
                <a:spcPts val="7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55F3B-D1FD-B3F4-DDC6-9409B888DB37}"/>
              </a:ext>
            </a:extLst>
          </p:cNvPr>
          <p:cNvSpPr txBox="1"/>
          <p:nvPr/>
        </p:nvSpPr>
        <p:spPr>
          <a:xfrm>
            <a:off x="671732" y="335356"/>
            <a:ext cx="78005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77F1A-6B29-6176-39F5-DAB96372129D}"/>
              </a:ext>
            </a:extLst>
          </p:cNvPr>
          <p:cNvSpPr txBox="1"/>
          <p:nvPr/>
        </p:nvSpPr>
        <p:spPr>
          <a:xfrm>
            <a:off x="1417896" y="1386972"/>
            <a:ext cx="698409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Focuses on protecting enterprise networks, devices, and data from unauthorized access and cyber threats.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Involves network monitoring, identity management, access control, anomaly detection, and threat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Addresses limitations of traditional security using AI-driven adaptive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real-time monitoring, and automated threat response.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Aims to build resilient, intelligent, and self-defending network systems.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43E49F-6ED7-93FD-8747-EA751253FEB5}"/>
              </a:ext>
            </a:extLst>
          </p:cNvPr>
          <p:cNvSpPr txBox="1"/>
          <p:nvPr/>
        </p:nvSpPr>
        <p:spPr>
          <a:xfrm>
            <a:off x="2848793" y="1032718"/>
            <a:ext cx="4122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AND SECURITY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9267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505" y="367421"/>
            <a:ext cx="809595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86787" y="1409165"/>
            <a:ext cx="7195278" cy="3029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08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relies on static rules and reactive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require heavy human intervention and act only after an attack has occurred. This project proposes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CipherTwin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autonomous framework that proactively secures enterprise networks by integrating Digital Twin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Explainable Zero-Trust access control, Adaptive Cyber Deception, and Quantum-Assisted Policy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Reoptimization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real-time Digital Twin mirrors network state from telemetry, while an Explainable Zero-Trust Engine scores and justifies access decisions. High-risk sessions are redirected to adaptive decoys that capture attacker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feeding a Quantum-Assisted Policy Engine that uses QAOA to optimize policies for minimal breach risk and user friction. Together, these components enable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CipherTwin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threat containment time and deliver a proactive, explainable, and auditable cybersecurity solution.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605" y="196947"/>
            <a:ext cx="8060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7349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F8B6DA-F266-662C-621F-FCE810665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11951"/>
              </p:ext>
            </p:extLst>
          </p:nvPr>
        </p:nvGraphicFramePr>
        <p:xfrm>
          <a:off x="1004341" y="913477"/>
          <a:ext cx="7465101" cy="381234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88367">
                  <a:extLst>
                    <a:ext uri="{9D8B030D-6E8A-4147-A177-3AD203B41FA5}">
                      <a16:colId xmlns:a16="http://schemas.microsoft.com/office/drawing/2014/main" val="2915435557"/>
                    </a:ext>
                  </a:extLst>
                </a:gridCol>
                <a:gridCol w="2488367">
                  <a:extLst>
                    <a:ext uri="{9D8B030D-6E8A-4147-A177-3AD203B41FA5}">
                      <a16:colId xmlns:a16="http://schemas.microsoft.com/office/drawing/2014/main" val="2937324720"/>
                    </a:ext>
                  </a:extLst>
                </a:gridCol>
                <a:gridCol w="2488367">
                  <a:extLst>
                    <a:ext uri="{9D8B030D-6E8A-4147-A177-3AD203B41FA5}">
                      <a16:colId xmlns:a16="http://schemas.microsoft.com/office/drawing/2014/main" val="1528756666"/>
                    </a:ext>
                  </a:extLst>
                </a:gridCol>
              </a:tblGrid>
              <a:tr h="257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PAPER TITLE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CONTRIBUTION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RESEARCH GAP</a:t>
                      </a:r>
                      <a:endParaRPr lang="en-IN" sz="1100" dirty="0"/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4167429305"/>
                  </a:ext>
                </a:extLst>
              </a:tr>
              <a:tr h="1184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/>
                        <a:t>DeCusatis</a:t>
                      </a:r>
                      <a:r>
                        <a:rPr lang="en-IN" sz="1100" b="1" dirty="0"/>
                        <a:t> et al., arXiv:2606.09469  </a:t>
                      </a:r>
                      <a:r>
                        <a:rPr lang="en-IN" sz="1100" b="0" dirty="0"/>
                        <a:t>Quantum Optimization for Honeynet Traffic Partitioning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Uses QAOA-based Max-Cut optimization for honeypot routing.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Tested on a 110-qubit IBM Quantum benchmark.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Limited to static honeypot traffic partitioning.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real-time Zero-Trust policy adaptation.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3597492747"/>
                  </a:ext>
                </a:extLst>
              </a:tr>
              <a:tr h="997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Al </a:t>
                      </a:r>
                      <a:r>
                        <a:rPr lang="en-IN" sz="1100" b="1" dirty="0" err="1"/>
                        <a:t>Ridhawi</a:t>
                      </a:r>
                      <a:r>
                        <a:rPr lang="en-IN" sz="1100" b="1" dirty="0"/>
                        <a:t> et al., 2023 — </a:t>
                      </a:r>
                      <a:r>
                        <a:rPr lang="en-IN" sz="1100" b="0" dirty="0"/>
                        <a:t>Decentralized Zero-Trust Framework for Digital Twin-enabled 6G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Uses blockchain authentication for Digital Twin security.• Provides decentralized Zero-Trust access control.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Rule-based decisions without explainable risk analysis.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adaptive deception and live telemetry optimization.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972865099"/>
                  </a:ext>
                </a:extLst>
              </a:tr>
              <a:tr h="1371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Kumar et al., 2024 — </a:t>
                      </a:r>
                      <a:r>
                        <a:rPr lang="en-IN" sz="1100" b="0" dirty="0"/>
                        <a:t>Digital Twins-enabled Zero Touch Network: Smart Contract and Explainable AI Cybersecurity Framework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• </a:t>
                      </a:r>
                      <a:r>
                        <a:rPr lang="en-IN" sz="1100" b="0" dirty="0"/>
                        <a:t>Integrates Blockchain, Smart Contracts, and Explainable AI (XAI) for Digital Twin </a:t>
                      </a:r>
                      <a:r>
                        <a:rPr lang="en-IN" sz="1100" dirty="0"/>
                        <a:t>security.</a:t>
                      </a:r>
                    </a:p>
                    <a:p>
                      <a:pPr>
                        <a:buNone/>
                      </a:pPr>
                      <a:r>
                        <a:rPr lang="en-IN" sz="1100" dirty="0"/>
                        <a:t>• Provides trusted authentication and access control.</a:t>
                      </a:r>
                    </a:p>
                  </a:txBody>
                  <a:tcPr marL="53481" marR="53481" marT="26740" marB="267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/>
                        <a:t>• Focuses on trust management and detection.</a:t>
                      </a:r>
                    </a:p>
                    <a:p>
                      <a:pPr>
                        <a:buNone/>
                      </a:pPr>
                      <a:r>
                        <a:rPr lang="en-IN" sz="1100" b="0" dirty="0"/>
                        <a:t>• No quantum optimization or adaptive cyber deception response.</a:t>
                      </a:r>
                    </a:p>
                  </a:txBody>
                  <a:tcPr marL="53481" marR="53481" marT="26740" marB="26740" anchor="ctr"/>
                </a:tc>
                <a:extLst>
                  <a:ext uri="{0D108BD9-81ED-4DB2-BD59-A6C34878D82A}">
                    <a16:rowId xmlns:a16="http://schemas.microsoft.com/office/drawing/2014/main" val="2681412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5694"/>
            <a:ext cx="805375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91718" y="1148247"/>
            <a:ext cx="7030388" cy="3161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Zero-Trust systems are static and rule-based, unable to adapt to evolving threats.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explainable risk analysis and intelligent decision-making.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deception methods are non-adaptive and easily detectable by attackers.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policy optimization becomes computationally expensive with increasing telemetry.</a:t>
            </a:r>
          </a:p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adaptive, explainable, and quantum-efficient closed-loop cyber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5F584C73-99D8-5ED3-E2BD-A1D03B4EDEE1}"/>
              </a:ext>
            </a:extLst>
          </p:cNvPr>
          <p:cNvSpPr/>
          <p:nvPr/>
        </p:nvSpPr>
        <p:spPr>
          <a:xfrm>
            <a:off x="637773" y="149901"/>
            <a:ext cx="806079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38EF8-20A7-95B6-DC51-507748D27078}"/>
              </a:ext>
            </a:extLst>
          </p:cNvPr>
          <p:cNvSpPr txBox="1"/>
          <p:nvPr/>
        </p:nvSpPr>
        <p:spPr>
          <a:xfrm>
            <a:off x="637773" y="954509"/>
            <a:ext cx="7934179" cy="383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firewalls &amp; signature-based IDS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only known attack patterns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configured Zero-Trust policies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fixed rules, no adaptive scoring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honeypots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unchanged deception, easily fingerprinted by attackers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manual policy updates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slow adaptation to new threats </a:t>
            </a:r>
          </a:p>
          <a:p>
            <a:pPr marL="285750" indent="-285750" algn="just">
              <a:lnSpc>
                <a:spcPct val="108000"/>
              </a:lnSpc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explainability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decisions lack clear justification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policy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Reoptimization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relies on classical, static methods</a:t>
            </a:r>
          </a:p>
          <a:p>
            <a:pPr algn="just"/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Detection: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fixed rules and signature-based detection, making it ineffective against new and evolving attacks.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Explainability: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Trust decisions provide little or no justification for access control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Non-Adaptive Deception: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Static honeypots are easily detected and bypassed by attackers.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or traditional policy updates struggle to handle large-scale networks, leading to higher false positives and slower threat response.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1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78659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3255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Twin Construction: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EDR, IAM, and NetFlow telemetry are continuously ingested to mirror device state, user sessions, and resource dependencies in a live, </a:t>
            </a:r>
            <a:r>
              <a:rPr lang="en-US" sz="13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queryable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network twin.</a:t>
            </a:r>
            <a:endParaRPr lang="en-US" sz="1300" dirty="0"/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Zero-Trust Scoring (EZTE):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access request is scored using a weighted risk function over identity confidence, device posture, behavioral deviation, and resource sensitivity, with the top contributing factors extracted to allow, restrict, or deny access.</a:t>
            </a:r>
            <a:endParaRPr lang="en-US" sz="1300" dirty="0"/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Deception Trigger (ACDE):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risk score crosses an adaptive threshold, the flagged session is rerouted to procedurally generated decoy hosts and honeytokens that mirror the twin's real services.</a:t>
            </a:r>
            <a:endParaRPr lang="en-US" sz="1300" dirty="0"/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Deception Fidelity Adaptation: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decoy complexity is tuned across successive sessions based on the attacker's observed skill and tactics, while command sequences, payloads, and lateral movement attempts are logged for threat intelligence.</a:t>
            </a:r>
            <a:endParaRPr lang="en-US" sz="1300" dirty="0"/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Quantum-Assisted Policy </a:t>
            </a:r>
            <a:r>
              <a:rPr lang="en-US" sz="13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Reoptimization</a:t>
            </a: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(QAPRE):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captured telemetry and confirmed false positives encode the Zero-Trust policy set and deception cost as a QUBO, resolved with QAOA in PennyLane when telemetry volume or false-positive drift thresholds are reached.</a:t>
            </a:r>
            <a:endParaRPr lang="en-US" sz="1300" dirty="0"/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Feedback Loop: 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access decision, deception trigger, and policy update is translated into a human-readable justification tied to specific risk factors and QUBO constraints, with analyst feedback fed back into the twin to refine future risk scoring.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1158"/>
            <a:ext cx="841248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593592"/>
            <a:ext cx="1567971" cy="31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0731" y="4159973"/>
            <a:ext cx="841248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 from the Digital Twin drives explainable risk scoring and adaptive deception, while captured attacker intelligence feeds quantum-assisted policy reoptimization in a continuous, explainable feedback loop.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31C37B-D76A-4163-4D65-02EEC4ED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85" y="929503"/>
            <a:ext cx="7037881" cy="33277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244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71136"/>
            <a:ext cx="4005072" cy="3443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Digital Twin &amp; Risk Engine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— Core logic &amp; orchestration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(Docker) — Graph-based network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Weighted-Sum Risk Function — Access risk scoring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Telemetry &amp; Data Sources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RabbitMQ — Real-time telemetry pipeline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Deception Layer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 Decoy host containers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Cowrie Honeypot — SSH/Telnet attacker traps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E846C-542E-D124-5AA6-F66994C4FE72}"/>
              </a:ext>
            </a:extLst>
          </p:cNvPr>
          <p:cNvSpPr txBox="1"/>
          <p:nvPr/>
        </p:nvSpPr>
        <p:spPr>
          <a:xfrm>
            <a:off x="4407108" y="1156145"/>
            <a:ext cx="427969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Quantum Optimization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PennyLane (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lightning.qubit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Quantum simulation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QUBO (NumPy/SciPy) — Policy formulation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QAOA Solver — Quantum policy optimization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Optimizer — Classical fallback/baseline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Explainability &amp; Feedback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Jinja2 — Natural-language justifications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Analyst feedback dashboard</a:t>
            </a:r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Deployment &amp; Integration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Core API layer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— Policy storage</a:t>
            </a:r>
            <a:b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 — System orchestration</a:t>
            </a:r>
          </a:p>
          <a:p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"/>
            <a:ext cx="80678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7715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9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Rose, S., Borchert, O., Mitchell, S., &amp; Connelly, S., "Zero Trust Architecture," NIST Special Publication 800-207, 2020.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</a:t>
            </a:r>
            <a:r>
              <a:rPr lang="en-US" sz="13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Ridhawi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I., et al., "Decentralized Zero-Trust Framework for Digital Twin-based 6G,"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arXiv:2302.03107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Feb. 2023.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Bergholm, V., Izaac, J., Schuld, M., et al., "PennyLane: Automatic Differentiation of Hybrid Quantum-Classical Computations,"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arXiv:1811.04968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2018.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Farhi, E., Goldstone, J., &amp; Gutmann, S., "A Quantum Approximate Optimization Algorithm,"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arXiv:1411.4028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2014.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Bhattacharyya, B., et al., "Hardware-Aware QAOA for Honeypot Traffic Partitioning on 100+ Qubit IBM Quantum Processors,"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arXiv:2606.09469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2026.</a:t>
            </a:r>
            <a:endParaRPr lang="en-US" sz="1300" dirty="0"/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Cao, Y., et al., "HoneyIoT: Adaptive High-Interaction Honeypot for IoT Devices Through Reinforcement Learning," </a:t>
            </a: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arXiv:2305.06430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2023.</a:t>
            </a: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endParaRPr lang="en-US" sz="13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285750" indent="-285750">
              <a:spcAft>
                <a:spcPts val="900"/>
              </a:spcAft>
              <a:buFont typeface="Wingdings" panose="05000000000000000000" pitchFamily="2" charset="2"/>
              <a:buChar char="Ø"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774" y="199762"/>
            <a:ext cx="801858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5B0FA-89E6-158E-740B-3B1D53DAD964}"/>
              </a:ext>
            </a:extLst>
          </p:cNvPr>
          <p:cNvSpPr txBox="1"/>
          <p:nvPr/>
        </p:nvSpPr>
        <p:spPr>
          <a:xfrm>
            <a:off x="670560" y="682752"/>
            <a:ext cx="775411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Honeypots: Dynamic Deception Tactics in Modern Cyber </a:t>
            </a:r>
            <a:r>
              <a:rPr lang="en-IN" sz="13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ResearchGate, 2025.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Kareem, S.A., Sachan, R.C., &amp; Malviya, R.K. AI-Driven Adaptive Honeypots for Dynamic Cyber Threats. SSRN, 2024.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Oosterhof, M. Cowrie SSH/Telnet Honeypot (Open-source deception framework).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Farhi, E., Goldstone, J., &amp; Gutmann, S. (2014). A Quantum Approximate Optimization Algorithm. arXiv:1411.4028.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Bhattacharyya, B., et al. (2025). Solving General QUBOs with Warm-Start QAOA via a Reduction to Max-Cut. arXiv:2504.06253.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9609"/>
            <a:ext cx="80607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79224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08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D09D9-87C7-DB60-025A-4FE8E464CA7E}"/>
              </a:ext>
            </a:extLst>
          </p:cNvPr>
          <p:cNvSpPr txBox="1"/>
          <p:nvPr/>
        </p:nvSpPr>
        <p:spPr>
          <a:xfrm>
            <a:off x="2808234" y="1979205"/>
            <a:ext cx="386238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1352</Words>
  <Application>Microsoft Office PowerPoint</Application>
  <PresentationFormat>On-screen Show (16:9)</PresentationFormat>
  <Paragraphs>103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YOGESH R</cp:lastModifiedBy>
  <cp:revision>7</cp:revision>
  <dcterms:created xsi:type="dcterms:W3CDTF">2026-07-21T04:34:25Z</dcterms:created>
  <dcterms:modified xsi:type="dcterms:W3CDTF">2026-07-22T08:54:28Z</dcterms:modified>
</cp:coreProperties>
</file>